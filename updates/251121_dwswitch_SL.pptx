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59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500"/>
    <a:srgbClr val="02B944"/>
    <a:srgbClr val="0A5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7"/>
    <p:restoredTop sz="94737"/>
  </p:normalViewPr>
  <p:slideViewPr>
    <p:cSldViewPr snapToGrid="0">
      <p:cViewPr>
        <p:scale>
          <a:sx n="161" d="100"/>
          <a:sy n="161" d="100"/>
        </p:scale>
        <p:origin x="52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20:36:06.3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1801 27 24575,'-39'0'0,"-6"-1"0,-18-5 0,-3-2 0,6 1 0,6 2 0,15 5 0,9 0 0,4 1 0,-1 7 0,-8 16 0,-11 20 0,-2 13 0,5-1 0,14-13 0,15-13 0,11-6 0,17 7 0,18 13 0,14 11 0,3 2 0,-11-10 0,-13-15 0,-12-15 0,-5-9 0,-4-2 0,-2-3 0,-2 0 0,-6 0 0,-6-2 0,-8-1 0,-11 0 0,-7 0 0,-6 0 0,2 0 0,9 0 0,11-1 0,9-1 0,2 1 0,-8 0 0,-11 1 0,-12 0 0,-4 0 0,7 0 0,9 0 0,12 0 0,9-2 0,5-4 0,3-6 0,1-6 0,-1-1 0,0 4 0,-4 7 0,-14 4 0,-23 3 0,-25 4 0,-14 6 0,9 3 0,21-1 0,25-3 0,17 0 0,13 10 0,16 12 0,8 8 0,2-1 0,-6-9 0,-12-12 0,-2-9 0,-2-8 0,2-14 0,4-13 0,4-13 0,-1-3 0,-3 6 0,-5 8 0,-4 3 0,-4-3 0,0-4 0,-5-1 0,-6 7 0,-3 9 0,-5 10 0,-6 6 0,-14 3 0,-16 1 0,-12 4 0,-1 5 0,12 3 0,16 1 0,16-5 0,11-2 0,4-4 0,-1 0 0,-2 0 0,1-1 0,0 2 0,1 0 0,1 1 0,0 1 0,1 1 0,1 2 0,0 8 0,1 8 0,-4 11 0,-6 5 0,-6-3 0,-3-6 0,0-10 0,6-9 0,7-5 0,4-3 0,2-4 0,0-2 0,-1-3 0,1-2 0,2-1 0,0 1 0,0 0 0,-3 0 0,1 0 0,-2 2 0,2 0 0,3 2 0,1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20:36:53.2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629 1035 24575,'0'-9'0,"-2"-6"0,-2-5 0,-3-1 0,-3 5 0,-7 5 0,-12 3 0,-11-5 0,-8-6 0,3-4 0,6-1 0,8-2 0,9 5 0,6 3 0,7 6 0,4 0 0,3-5 0,1-7 0,1-9 0,1-5 0,3 2 0,1 6 0,0 7 0,-3 3 0,0-1 0,-2-5 0,-2-5 0,-2 1 0,0 5 0,0 8 0,1 9 0,-2 3 0,-5 0 0,-4-1 0,-1-3 0,1-1 0,3-1 0,3 2 0,3 2 0,2 2 0,2-1 0,1-3 0,0-2 0,0-3 0,0 1 0,0 1 0,0 2 0,0 0 0,-2 2 0,-2 0 0,0 1 0,-1-1 0,1-1 0,0-3 0,-1-4 0,1 1 0,0-3 0,2 4 0,-1 2 0,-2 2 0,1 1 0,-4-1 0,-1-1 0,-1 2 0,0 3 0,0 1 0,1 2 0,1-1 0,0 1 0,1 1 0,-1-1 0,-5-1 0,-7-5 0,-2-1 0,7 3 0,5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2ED45-5A16-9C36-9F2A-5AACA9042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A924E5-AFF9-9F88-2D0B-6D5E85F97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1341E-EA75-574C-F49D-246EB9A6C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E7BAB-C9E4-2CDA-DCC2-F3AD294DD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C7E26-8964-1290-2DBF-BE0F05A5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0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EDC2-EDC0-3523-77C0-0958BAA4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599E-8943-A307-E1BB-D5368F7AB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34FBC-144F-A532-2A8D-215AD92B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9F8E0-7E11-1F35-7C28-60AF7F1A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1B693-E375-9BC3-AAFE-ADDA99A59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1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546C-7913-94B9-3512-1E30BE030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0D273-E94F-DE59-77BE-2135DEEAE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7739F-8B14-82D1-A9A2-4D555DA3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FC049-65FE-9F5A-0936-63AD89BB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C19BA-E3E7-A4A9-C5C7-C98753E9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5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5620-D79B-CF40-0764-7FAD90EF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1CC13-E21A-4CFE-499A-F1C0657E2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B4387-6871-996D-1767-AAA12A1F6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60CF0-2ACF-A88F-1A9D-F39897927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52C5D-A41F-56A4-7158-4C182FC5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EF286-5536-BBAB-AFE7-AD127B23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0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D53A-A361-8E50-BDE2-87F1B2E29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A7CB2-EC67-D060-6990-346B90645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31396-EE39-61ED-7BD8-491EC614C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6291A-4016-2032-3BFB-CE82783C3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98864-7BDD-7F9A-C4BF-8A9730AE3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82CA61-EDCE-30EB-2D66-423A5178E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4963B-042A-2178-D405-B1EA6D2E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A9D10E-E9AB-9CC6-A015-6D2FEE23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1609A-A51C-110D-9A88-8A9ABD249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E39F1-AA2F-CC7B-8DC0-C88CE5AD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2CB92-0EC7-0AFA-AD9C-B90994D0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98858-43E4-A212-FB19-868844F7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93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D3124-B30B-0CD6-C8F6-C4996AA0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30CEC-D451-75F1-4251-8E18097F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86132-65B6-C0B5-A3A3-7D41A82A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3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6D84-B600-7DB3-B1F8-FD8482EFF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56CEE-43DC-2112-1B41-5F43D52A5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04596-4D06-F9A5-28D3-9029399A2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BBC46-2E58-C6FF-2CF6-8B835242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04FC5-0182-B2DD-793A-11B0FD4A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46B7E-4028-9E31-332B-DD77821A1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8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0428-A294-73FA-0D34-DE9FC39C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4CFFD-555C-2AD0-EEF8-275AF0747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18950-A5A9-300B-2321-6DEEBEDD4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6168D-FEED-9CA3-0E9B-837B8B6B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60731-A57F-9B3D-ECC1-595D4DEC2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2F331-E46F-08E8-B116-C2E7DA46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8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AF4A1-31E8-A442-46C4-B8230CDA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19359-B1F0-06D5-04B4-247127F5F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75CB6-787F-CC95-ECEC-76F171DC1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D3AAC-89B0-2915-0011-73BDAD0C7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505B7-F1BB-FF53-21D2-4BBED040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72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16B19-EAEA-D979-87A4-271FB9FFC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358F2-AD68-23BC-8BBB-249E94229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F6597-9D8A-62AD-B46B-00FB3CFC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795DB-CC90-E5FB-8E18-7E82DA426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85422-97F4-D818-E729-26EE97ED1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7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06B69-757C-0CEC-ACF2-79A83F31D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FAC98-BEA6-E144-3E3A-90EC8C77F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32322-A6BF-F3A0-3118-FC4EE1E2B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1C5BE-2FE7-9F42-A885-508FCDC533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FB2A1-6807-1BC1-7016-BA7AC2657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49144-E7EA-EC82-635E-DE379CB5B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592A9-2B29-0240-A753-97AC5B66C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6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2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7" Type="http://schemas.openxmlformats.org/officeDocument/2006/relationships/image" Target="../media/image23.sv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FD10-AC40-199C-15D3-CE1202F5D9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DW field-switching </a:t>
            </a:r>
            <a:r>
              <a:rPr lang="en-US" dirty="0" err="1"/>
              <a:t>micromag</a:t>
            </a:r>
            <a:r>
              <a:rPr lang="en-US" dirty="0"/>
              <a:t> and fitting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E19BF-40EA-1983-9843-6D974B9FFC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updated 25/11/21</a:t>
            </a:r>
          </a:p>
        </p:txBody>
      </p:sp>
    </p:spTree>
    <p:extLst>
      <p:ext uri="{BB962C8B-B14F-4D97-AF65-F5344CB8AC3E}">
        <p14:creationId xmlns:p14="http://schemas.microsoft.com/office/powerpoint/2010/main" val="342137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ACCB-03C8-16F3-AF7D-D7F8BE03D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BLS notes: fitting </a:t>
            </a:r>
            <a:r>
              <a:rPr lang="en-US" dirty="0" err="1"/>
              <a:t>eqn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370C4A-0CD9-C532-BBD9-2CE728EE9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00504"/>
            <a:ext cx="10515600" cy="106186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E170FA-67F0-B4F0-F234-A68DD1C10D38}"/>
              </a:ext>
            </a:extLst>
          </p:cNvPr>
          <p:cNvSpPr txBox="1"/>
          <p:nvPr/>
        </p:nvSpPr>
        <p:spPr>
          <a:xfrm>
            <a:off x="5983954" y="6311900"/>
            <a:ext cx="6208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Appl. Phys. Lett. 120, 112405 (2022); </a:t>
            </a:r>
            <a:r>
              <a:rPr lang="en-US" dirty="0" err="1"/>
              <a:t>doi</a:t>
            </a:r>
            <a:r>
              <a:rPr lang="en-US" dirty="0"/>
              <a:t>: 10.1063/5.0083583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821AF4-F46A-4A89-85B9-43677AD7FF65}"/>
              </a:ext>
            </a:extLst>
          </p:cNvPr>
          <p:cNvSpPr/>
          <p:nvPr/>
        </p:nvSpPr>
        <p:spPr>
          <a:xfrm>
            <a:off x="2765729" y="3069204"/>
            <a:ext cx="151074" cy="230587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A74229-ECED-5887-D800-9E392A7B07FA}"/>
              </a:ext>
            </a:extLst>
          </p:cNvPr>
          <p:cNvSpPr/>
          <p:nvPr/>
        </p:nvSpPr>
        <p:spPr>
          <a:xfrm>
            <a:off x="4428876" y="3032655"/>
            <a:ext cx="300824" cy="23058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15F4C3-0EE5-C750-FAD3-A48AC844EB06}"/>
              </a:ext>
            </a:extLst>
          </p:cNvPr>
          <p:cNvSpPr/>
          <p:nvPr/>
        </p:nvSpPr>
        <p:spPr>
          <a:xfrm>
            <a:off x="4485861" y="3360830"/>
            <a:ext cx="300824" cy="23058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5C46B2-5379-C0AE-4C49-81A1D46FDEC3}"/>
              </a:ext>
            </a:extLst>
          </p:cNvPr>
          <p:cNvSpPr/>
          <p:nvPr/>
        </p:nvSpPr>
        <p:spPr>
          <a:xfrm>
            <a:off x="5417489" y="3184497"/>
            <a:ext cx="300824" cy="23058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A0E7B1-F570-EE7C-EFE3-986F794B896C}"/>
              </a:ext>
            </a:extLst>
          </p:cNvPr>
          <p:cNvSpPr/>
          <p:nvPr/>
        </p:nvSpPr>
        <p:spPr>
          <a:xfrm>
            <a:off x="5198827" y="3189876"/>
            <a:ext cx="218661" cy="2305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6A50FE-30E5-2DDE-CCDE-BD910BD2D7C3}"/>
              </a:ext>
            </a:extLst>
          </p:cNvPr>
          <p:cNvSpPr/>
          <p:nvPr/>
        </p:nvSpPr>
        <p:spPr>
          <a:xfrm>
            <a:off x="3741087" y="3184496"/>
            <a:ext cx="300824" cy="230587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DB0BC4-2A2B-44B3-4E8E-A2CEBCAD81A7}"/>
              </a:ext>
            </a:extLst>
          </p:cNvPr>
          <p:cNvSpPr/>
          <p:nvPr/>
        </p:nvSpPr>
        <p:spPr>
          <a:xfrm>
            <a:off x="7667043" y="3032655"/>
            <a:ext cx="300824" cy="23058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487426-DA74-45E3-2059-110AA8C81390}"/>
              </a:ext>
            </a:extLst>
          </p:cNvPr>
          <p:cNvSpPr/>
          <p:nvPr/>
        </p:nvSpPr>
        <p:spPr>
          <a:xfrm>
            <a:off x="7724028" y="3360830"/>
            <a:ext cx="300824" cy="23058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9E0EB3-2F9D-2CA5-A4B5-DEA8153AFADD}"/>
              </a:ext>
            </a:extLst>
          </p:cNvPr>
          <p:cNvSpPr/>
          <p:nvPr/>
        </p:nvSpPr>
        <p:spPr>
          <a:xfrm>
            <a:off x="8655656" y="3184497"/>
            <a:ext cx="300824" cy="23058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8343EA-3EF8-2B61-F1D8-630668E2FD30}"/>
              </a:ext>
            </a:extLst>
          </p:cNvPr>
          <p:cNvSpPr/>
          <p:nvPr/>
        </p:nvSpPr>
        <p:spPr>
          <a:xfrm>
            <a:off x="8436994" y="3189876"/>
            <a:ext cx="218661" cy="2305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071533-8E95-4226-5600-3D67AB0E812B}"/>
              </a:ext>
            </a:extLst>
          </p:cNvPr>
          <p:cNvSpPr/>
          <p:nvPr/>
        </p:nvSpPr>
        <p:spPr>
          <a:xfrm>
            <a:off x="10327744" y="3154679"/>
            <a:ext cx="717608" cy="290220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EEF1FF-E0EF-8025-B691-9CE4F714E64E}"/>
              </a:ext>
            </a:extLst>
          </p:cNvPr>
          <p:cNvSpPr txBox="1"/>
          <p:nvPr/>
        </p:nvSpPr>
        <p:spPr>
          <a:xfrm>
            <a:off x="10287367" y="3996842"/>
            <a:ext cx="914033" cy="64633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 </a:t>
            </a:r>
            <a:r>
              <a:rPr lang="en-US" dirty="0">
                <a:sym typeface="Wingdings" pitchFamily="2" charset="2"/>
              </a:rPr>
              <a:t> 1</a:t>
            </a:r>
          </a:p>
          <a:p>
            <a:r>
              <a:rPr lang="en-US" dirty="0">
                <a:sym typeface="Wingdings" pitchFamily="2" charset="2"/>
              </a:rPr>
              <a:t>BV  0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A2778B-36DF-392E-A977-A5CFA56F7609}"/>
              </a:ext>
            </a:extLst>
          </p:cNvPr>
          <p:cNvCxnSpPr>
            <a:cxnSpLocks/>
          </p:cNvCxnSpPr>
          <p:nvPr/>
        </p:nvCxnSpPr>
        <p:spPr>
          <a:xfrm>
            <a:off x="10728705" y="3503851"/>
            <a:ext cx="1" cy="417259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D88303E-DF30-AD56-E51F-3D66A9629C2E}"/>
              </a:ext>
            </a:extLst>
          </p:cNvPr>
          <p:cNvSpPr/>
          <p:nvPr/>
        </p:nvSpPr>
        <p:spPr>
          <a:xfrm>
            <a:off x="6211786" y="3329605"/>
            <a:ext cx="190002" cy="23058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72B2F9-B14A-2EA7-5A3E-B3AE10DCCA1C}"/>
              </a:ext>
            </a:extLst>
          </p:cNvPr>
          <p:cNvSpPr/>
          <p:nvPr/>
        </p:nvSpPr>
        <p:spPr>
          <a:xfrm>
            <a:off x="6488428" y="3005275"/>
            <a:ext cx="125732" cy="23058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E097E8-2AD7-F495-5DF4-3D65240C6B85}"/>
              </a:ext>
            </a:extLst>
          </p:cNvPr>
          <p:cNvSpPr/>
          <p:nvPr/>
        </p:nvSpPr>
        <p:spPr>
          <a:xfrm>
            <a:off x="9813071" y="3346911"/>
            <a:ext cx="190002" cy="23058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853614-F2D9-A925-1CB9-00730A1F9519}"/>
              </a:ext>
            </a:extLst>
          </p:cNvPr>
          <p:cNvSpPr/>
          <p:nvPr/>
        </p:nvSpPr>
        <p:spPr>
          <a:xfrm>
            <a:off x="10089713" y="3022581"/>
            <a:ext cx="125732" cy="230587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1936CD-3910-DC22-7D2E-6D358E80355A}"/>
              </a:ext>
            </a:extLst>
          </p:cNvPr>
          <p:cNvSpPr txBox="1"/>
          <p:nvPr/>
        </p:nvSpPr>
        <p:spPr>
          <a:xfrm>
            <a:off x="6606209" y="4110843"/>
            <a:ext cx="1996765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Fitting parameters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10B7FB-B3E2-6815-F3BA-6CFA5B68CB7E}"/>
              </a:ext>
            </a:extLst>
          </p:cNvPr>
          <p:cNvSpPr txBox="1"/>
          <p:nvPr/>
        </p:nvSpPr>
        <p:spPr>
          <a:xfrm>
            <a:off x="3148539" y="2136269"/>
            <a:ext cx="2674643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Determined through FMR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42915C-FFD4-CAFF-C347-27D577B7C8AD}"/>
              </a:ext>
            </a:extLst>
          </p:cNvPr>
          <p:cNvSpPr txBox="1"/>
          <p:nvPr/>
        </p:nvSpPr>
        <p:spPr>
          <a:xfrm>
            <a:off x="2128476" y="4925466"/>
            <a:ext cx="282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Less valid for thicker films</a:t>
            </a:r>
          </a:p>
        </p:txBody>
      </p:sp>
    </p:spTree>
    <p:extLst>
      <p:ext uri="{BB962C8B-B14F-4D97-AF65-F5344CB8AC3E}">
        <p14:creationId xmlns:p14="http://schemas.microsoft.com/office/powerpoint/2010/main" val="229638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D2495-7B7E-C705-1EBD-3049D51F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Non-device ways to measure </a:t>
            </a:r>
            <a:r>
              <a:rPr lang="en-US" i="1" dirty="0" err="1"/>
              <a:t>A</a:t>
            </a:r>
            <a:r>
              <a:rPr lang="en-US" i="1" baseline="-25000" dirty="0" err="1"/>
              <a:t>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C9EEA-A518-14A7-5B5C-931409F9F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Neutron scattering </a:t>
            </a:r>
            <a:r>
              <a:rPr lang="en-US" dirty="0">
                <a:sym typeface="Wingdings" pitchFamily="2" charset="2"/>
              </a:rPr>
              <a:t> gold standard</a:t>
            </a:r>
          </a:p>
          <a:p>
            <a:r>
              <a:rPr lang="en-US" dirty="0">
                <a:sym typeface="Wingdings" pitchFamily="2" charset="2"/>
              </a:rPr>
              <a:t>Temperature dependent magnetometry</a:t>
            </a:r>
          </a:p>
          <a:p>
            <a:r>
              <a:rPr lang="en-US" dirty="0">
                <a:sym typeface="Wingdings" pitchFamily="2" charset="2"/>
              </a:rPr>
              <a:t>Perpendicular standing spin waves (PSSWs)</a:t>
            </a:r>
          </a:p>
          <a:p>
            <a:pPr lvl="1"/>
            <a:r>
              <a:rPr lang="en-US" dirty="0">
                <a:sym typeface="Wingdings" pitchFamily="2" charset="2"/>
              </a:rPr>
              <a:t>Brillouin light scattering (BLS)</a:t>
            </a:r>
          </a:p>
          <a:p>
            <a:pPr lvl="1"/>
            <a:r>
              <a:rPr lang="en-US" dirty="0">
                <a:sym typeface="Wingdings" pitchFamily="2" charset="2"/>
              </a:rPr>
              <a:t>Ferromagnetic resonance (FMR)</a:t>
            </a:r>
          </a:p>
          <a:p>
            <a:r>
              <a:rPr lang="en-US" dirty="0">
                <a:sym typeface="Wingdings" pitchFamily="2" charset="2"/>
              </a:rPr>
              <a:t>Damon-Eschbach and backscattering mode dispersion</a:t>
            </a:r>
          </a:p>
          <a:p>
            <a:pPr lvl="1"/>
            <a:r>
              <a:rPr lang="en-US" dirty="0">
                <a:sym typeface="Wingdings" pitchFamily="2" charset="2"/>
              </a:rPr>
              <a:t>BLS</a:t>
            </a:r>
          </a:p>
          <a:p>
            <a:pPr lvl="1"/>
            <a:r>
              <a:rPr lang="en-US" dirty="0">
                <a:sym typeface="Wingdings" pitchFamily="2" charset="2"/>
              </a:rPr>
              <a:t>FMR in devices</a:t>
            </a:r>
          </a:p>
          <a:p>
            <a:r>
              <a:rPr lang="en-US" u="sng" dirty="0">
                <a:sym typeface="Wingdings" pitchFamily="2" charset="2"/>
              </a:rPr>
              <a:t>Problem: Cannot measure in films less than 10 nm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27010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DA6A-2B07-D33F-E36B-839ED753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56202E5-BEBD-F5D8-8BD9-6C4FCDA53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072" y="1844675"/>
            <a:ext cx="5342973" cy="365722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435914A-DEC1-CA3E-F48A-425D87554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1490" y="1844674"/>
            <a:ext cx="5342974" cy="3657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6DF24B-B3EB-BF34-256B-34EF5995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Output and fitting using equation (2 kHz sampling)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620B6-5FDE-0D90-A928-BB0A0B655B95}"/>
              </a:ext>
            </a:extLst>
          </p:cNvPr>
          <p:cNvSpPr txBox="1"/>
          <p:nvPr/>
        </p:nvSpPr>
        <p:spPr>
          <a:xfrm>
            <a:off x="1222951" y="3632778"/>
            <a:ext cx="27001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Fitted:</a:t>
            </a:r>
          </a:p>
          <a:p>
            <a:r>
              <a:rPr lang="en-US" dirty="0"/>
              <a:t>   </a:t>
            </a:r>
            <a:r>
              <a:rPr lang="en-US" dirty="0" err="1"/>
              <a:t>Aex</a:t>
            </a:r>
            <a:r>
              <a:rPr lang="en-US" dirty="0"/>
              <a:t> = 1.739e-06 erg/cm</a:t>
            </a:r>
          </a:p>
          <a:p>
            <a:r>
              <a:rPr lang="en-US" dirty="0"/>
              <a:t>   </a:t>
            </a:r>
            <a:r>
              <a:rPr lang="en-US" dirty="0" err="1"/>
              <a:t>w_dw</a:t>
            </a:r>
            <a:r>
              <a:rPr lang="en-US" dirty="0"/>
              <a:t> = 13.808 nm </a:t>
            </a:r>
          </a:p>
          <a:p>
            <a:r>
              <a:rPr lang="en-US" dirty="0"/>
              <a:t>   Delta = 144.449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2AC28-2437-2AAA-97FA-DA085F0A5AA3}"/>
              </a:ext>
            </a:extLst>
          </p:cNvPr>
          <p:cNvSpPr txBox="1"/>
          <p:nvPr/>
        </p:nvSpPr>
        <p:spPr>
          <a:xfrm>
            <a:off x="1222952" y="2228671"/>
            <a:ext cx="27001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Generated:</a:t>
            </a:r>
          </a:p>
          <a:p>
            <a:r>
              <a:rPr lang="en-US" dirty="0"/>
              <a:t>   </a:t>
            </a:r>
            <a:r>
              <a:rPr lang="en-US" dirty="0" err="1"/>
              <a:t>Aex</a:t>
            </a:r>
            <a:r>
              <a:rPr lang="en-US" dirty="0"/>
              <a:t> = 1.776e-06 erg/cm</a:t>
            </a:r>
          </a:p>
          <a:p>
            <a:r>
              <a:rPr lang="en-US" dirty="0"/>
              <a:t>   </a:t>
            </a:r>
            <a:r>
              <a:rPr lang="en-US" dirty="0" err="1"/>
              <a:t>w_dw</a:t>
            </a:r>
            <a:r>
              <a:rPr lang="en-US" dirty="0"/>
              <a:t> = 12.7 nm </a:t>
            </a:r>
          </a:p>
          <a:p>
            <a:r>
              <a:rPr lang="en-US" dirty="0"/>
              <a:t>   Delta = 145.95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5F14D5-7BD3-2D83-D82A-58202268C825}"/>
              </a:ext>
            </a:extLst>
          </p:cNvPr>
          <p:cNvSpPr txBox="1"/>
          <p:nvPr/>
        </p:nvSpPr>
        <p:spPr>
          <a:xfrm>
            <a:off x="7452853" y="3582986"/>
            <a:ext cx="27235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Fitted:</a:t>
            </a:r>
          </a:p>
          <a:p>
            <a:r>
              <a:rPr lang="en-US" dirty="0"/>
              <a:t>   </a:t>
            </a:r>
            <a:r>
              <a:rPr lang="en-US" dirty="0" err="1"/>
              <a:t>Aex</a:t>
            </a:r>
            <a:r>
              <a:rPr lang="en-US" dirty="0"/>
              <a:t> = 1.929e-06 erg/cm</a:t>
            </a:r>
          </a:p>
          <a:p>
            <a:r>
              <a:rPr lang="en-US" dirty="0"/>
              <a:t>   </a:t>
            </a:r>
            <a:r>
              <a:rPr lang="en-US" dirty="0" err="1"/>
              <a:t>w_dw</a:t>
            </a:r>
            <a:r>
              <a:rPr lang="en-US" dirty="0"/>
              <a:t> = 13.482 nm </a:t>
            </a:r>
          </a:p>
          <a:p>
            <a:r>
              <a:rPr lang="en-US" dirty="0"/>
              <a:t>   Delta = 152.126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5F3F6-0202-956C-FAB1-838CD44BA5F2}"/>
              </a:ext>
            </a:extLst>
          </p:cNvPr>
          <p:cNvSpPr txBox="1"/>
          <p:nvPr/>
        </p:nvSpPr>
        <p:spPr>
          <a:xfrm>
            <a:off x="7452853" y="2228671"/>
            <a:ext cx="2723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Generated:</a:t>
            </a:r>
          </a:p>
          <a:p>
            <a:r>
              <a:rPr lang="en-US" dirty="0"/>
              <a:t>   </a:t>
            </a:r>
            <a:r>
              <a:rPr lang="en-US" dirty="0" err="1"/>
              <a:t>Aex</a:t>
            </a:r>
            <a:r>
              <a:rPr lang="en-US" dirty="0"/>
              <a:t> = 2.012e-06 erg/cm</a:t>
            </a:r>
          </a:p>
          <a:p>
            <a:r>
              <a:rPr lang="en-US" dirty="0"/>
              <a:t>   </a:t>
            </a:r>
            <a:r>
              <a:rPr lang="en-US" dirty="0" err="1"/>
              <a:t>w_dw</a:t>
            </a:r>
            <a:r>
              <a:rPr lang="en-US" dirty="0"/>
              <a:t> = 12.7 nm </a:t>
            </a:r>
          </a:p>
          <a:p>
            <a:r>
              <a:rPr lang="en-US" dirty="0"/>
              <a:t>   Delta = 155.362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6372EA-6490-AB4D-FCFF-BCE452757F62}"/>
              </a:ext>
            </a:extLst>
          </p:cNvPr>
          <p:cNvSpPr txBox="1"/>
          <p:nvPr/>
        </p:nvSpPr>
        <p:spPr>
          <a:xfrm rot="16200000">
            <a:off x="5929483" y="3254077"/>
            <a:ext cx="11102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P(H)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059F3A-E2CE-FF18-42F5-82082170762B}"/>
              </a:ext>
            </a:extLst>
          </p:cNvPr>
          <p:cNvSpPr txBox="1"/>
          <p:nvPr/>
        </p:nvSpPr>
        <p:spPr>
          <a:xfrm>
            <a:off x="9119000" y="5455007"/>
            <a:ext cx="12929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H (Oe)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55E30A-0301-870A-6D31-3FEB1E10506A}"/>
              </a:ext>
            </a:extLst>
          </p:cNvPr>
          <p:cNvSpPr txBox="1"/>
          <p:nvPr/>
        </p:nvSpPr>
        <p:spPr>
          <a:xfrm rot="16200000">
            <a:off x="-51517" y="3213556"/>
            <a:ext cx="11102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P(H)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42ED95-7E7E-C819-C73F-DA3601259824}"/>
              </a:ext>
            </a:extLst>
          </p:cNvPr>
          <p:cNvSpPr txBox="1"/>
          <p:nvPr/>
        </p:nvSpPr>
        <p:spPr>
          <a:xfrm>
            <a:off x="3138000" y="5414486"/>
            <a:ext cx="12929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H (Oe)</a:t>
            </a:r>
          </a:p>
        </p:txBody>
      </p:sp>
    </p:spTree>
    <p:extLst>
      <p:ext uri="{BB962C8B-B14F-4D97-AF65-F5344CB8AC3E}">
        <p14:creationId xmlns:p14="http://schemas.microsoft.com/office/powerpoint/2010/main" val="330429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E8EF8-3CA7-89B3-E413-47474E048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0D0A-4376-B28A-76B0-0BA02C97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Output and fitting using equation (1 GHz sampling)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5EBEA6F-0F19-520E-552B-4EA2D3828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6188" y="1875495"/>
            <a:ext cx="5775325" cy="3932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1693A1-B837-E4A7-66CF-E3A2EE9C6D63}"/>
              </a:ext>
            </a:extLst>
          </p:cNvPr>
          <p:cNvSpPr txBox="1"/>
          <p:nvPr/>
        </p:nvSpPr>
        <p:spPr>
          <a:xfrm>
            <a:off x="4539931" y="3650536"/>
            <a:ext cx="27005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Fitted:</a:t>
            </a:r>
          </a:p>
          <a:p>
            <a:r>
              <a:rPr lang="en-US" dirty="0"/>
              <a:t>   </a:t>
            </a:r>
            <a:r>
              <a:rPr lang="en-US" dirty="0" err="1"/>
              <a:t>Aex</a:t>
            </a:r>
            <a:r>
              <a:rPr lang="en-US" dirty="0"/>
              <a:t> = 1.711e-06 erg/cm</a:t>
            </a:r>
          </a:p>
          <a:p>
            <a:r>
              <a:rPr lang="en-US" dirty="0"/>
              <a:t>   </a:t>
            </a:r>
            <a:r>
              <a:rPr lang="en-US" dirty="0" err="1"/>
              <a:t>w_dw</a:t>
            </a:r>
            <a:r>
              <a:rPr lang="en-US" dirty="0"/>
              <a:t> = 12.423 nm </a:t>
            </a:r>
          </a:p>
          <a:p>
            <a:r>
              <a:rPr lang="en-US" dirty="0"/>
              <a:t>   Delta = 143.253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D8C50-81FD-8903-F3C8-B533AC17BB18}"/>
              </a:ext>
            </a:extLst>
          </p:cNvPr>
          <p:cNvSpPr txBox="1"/>
          <p:nvPr/>
        </p:nvSpPr>
        <p:spPr>
          <a:xfrm>
            <a:off x="4539932" y="2265400"/>
            <a:ext cx="27005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Generated:</a:t>
            </a:r>
          </a:p>
          <a:p>
            <a:r>
              <a:rPr lang="en-US" dirty="0"/>
              <a:t>   </a:t>
            </a:r>
            <a:r>
              <a:rPr lang="en-US" dirty="0" err="1"/>
              <a:t>Aex</a:t>
            </a:r>
            <a:r>
              <a:rPr lang="en-US" dirty="0"/>
              <a:t> = 1.776e-06 erg/cm</a:t>
            </a:r>
          </a:p>
          <a:p>
            <a:r>
              <a:rPr lang="en-US" dirty="0"/>
              <a:t>   </a:t>
            </a:r>
            <a:r>
              <a:rPr lang="en-US" dirty="0" err="1"/>
              <a:t>w_dw</a:t>
            </a:r>
            <a:r>
              <a:rPr lang="en-US" dirty="0"/>
              <a:t> = 12.7 nm </a:t>
            </a:r>
          </a:p>
          <a:p>
            <a:r>
              <a:rPr lang="en-US" dirty="0"/>
              <a:t>   Delta = 145.95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55644-2F2B-4D70-DA74-4E37D8DA2DD3}"/>
              </a:ext>
            </a:extLst>
          </p:cNvPr>
          <p:cNvSpPr txBox="1"/>
          <p:nvPr/>
        </p:nvSpPr>
        <p:spPr>
          <a:xfrm rot="16200000">
            <a:off x="2707380" y="3435092"/>
            <a:ext cx="11102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P(H)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28DCA-20D8-041D-580B-F23B3B19CFCF}"/>
              </a:ext>
            </a:extLst>
          </p:cNvPr>
          <p:cNvSpPr txBox="1"/>
          <p:nvPr/>
        </p:nvSpPr>
        <p:spPr>
          <a:xfrm>
            <a:off x="6096000" y="5766649"/>
            <a:ext cx="12929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H (Oe)</a:t>
            </a:r>
          </a:p>
        </p:txBody>
      </p:sp>
    </p:spTree>
    <p:extLst>
      <p:ext uri="{BB962C8B-B14F-4D97-AF65-F5344CB8AC3E}">
        <p14:creationId xmlns:p14="http://schemas.microsoft.com/office/powerpoint/2010/main" val="211874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1926-BE2A-3691-512F-8C96A0C3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Mumax</a:t>
            </a:r>
            <a:r>
              <a:rPr lang="en-US" dirty="0"/>
              <a:t> output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DFB0CB-5025-934F-B007-9FE05AD53244}"/>
              </a:ext>
            </a:extLst>
          </p:cNvPr>
          <p:cNvGrpSpPr/>
          <p:nvPr/>
        </p:nvGrpSpPr>
        <p:grpSpPr>
          <a:xfrm>
            <a:off x="2221813" y="1875043"/>
            <a:ext cx="5063891" cy="3915632"/>
            <a:chOff x="2472535" y="1875043"/>
            <a:chExt cx="5063891" cy="3915632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12CE212-4CB7-2BFF-E075-8D78ABCA9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71800" y="1875043"/>
              <a:ext cx="4564626" cy="349059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6DD4ED-3F5B-0CAD-576E-4F8D30389757}"/>
                </a:ext>
              </a:extLst>
            </p:cNvPr>
            <p:cNvSpPr txBox="1"/>
            <p:nvPr/>
          </p:nvSpPr>
          <p:spPr>
            <a:xfrm rot="16200000">
              <a:off x="2117444" y="3266125"/>
              <a:ext cx="111029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/>
                <a:t>P(H)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008BDA-26B9-5A04-E055-53D2AC5FEC10}"/>
                </a:ext>
              </a:extLst>
            </p:cNvPr>
            <p:cNvSpPr txBox="1"/>
            <p:nvPr/>
          </p:nvSpPr>
          <p:spPr>
            <a:xfrm>
              <a:off x="4768645" y="5390565"/>
              <a:ext cx="129294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/>
                <a:t>H (Oe)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39F71F2-1EC3-B9E6-FE6A-4C3AD1A7087D}"/>
                </a:ext>
              </a:extLst>
            </p:cNvPr>
            <p:cNvSpPr txBox="1"/>
            <p:nvPr/>
          </p:nvSpPr>
          <p:spPr>
            <a:xfrm>
              <a:off x="3475703" y="3059668"/>
              <a:ext cx="12929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olidFill>
                    <a:srgbClr val="0A5DA5"/>
                  </a:solidFill>
                </a:rPr>
                <a:t>A</a:t>
              </a:r>
              <a:r>
                <a:rPr lang="en-US" baseline="-25000" dirty="0" err="1">
                  <a:solidFill>
                    <a:srgbClr val="0A5DA5"/>
                  </a:solidFill>
                </a:rPr>
                <a:t>ex</a:t>
              </a:r>
              <a:r>
                <a:rPr lang="en-US" dirty="0">
                  <a:solidFill>
                    <a:srgbClr val="0A5DA5"/>
                  </a:solidFill>
                </a:rPr>
                <a:t>=1.6E-6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45665F7-2E85-6427-3705-4B5F5C8942E1}"/>
                </a:ext>
              </a:extLst>
            </p:cNvPr>
            <p:cNvSpPr txBox="1"/>
            <p:nvPr/>
          </p:nvSpPr>
          <p:spPr>
            <a:xfrm>
              <a:off x="5207409" y="4251981"/>
              <a:ext cx="12929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olidFill>
                    <a:srgbClr val="FF9500"/>
                  </a:solidFill>
                </a:rPr>
                <a:t>A</a:t>
              </a:r>
              <a:r>
                <a:rPr lang="en-US" baseline="-25000" dirty="0" err="1">
                  <a:solidFill>
                    <a:srgbClr val="FF9500"/>
                  </a:solidFill>
                </a:rPr>
                <a:t>ex</a:t>
              </a:r>
              <a:r>
                <a:rPr lang="en-US" dirty="0">
                  <a:solidFill>
                    <a:srgbClr val="FF9500"/>
                  </a:solidFill>
                </a:rPr>
                <a:t>=1.9E-6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8404D0-958A-27FC-6DEC-D1486FEA1B5C}"/>
                </a:ext>
              </a:extLst>
            </p:cNvPr>
            <p:cNvSpPr txBox="1"/>
            <p:nvPr/>
          </p:nvSpPr>
          <p:spPr>
            <a:xfrm>
              <a:off x="5631425" y="3138324"/>
              <a:ext cx="14035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olidFill>
                    <a:srgbClr val="02B944"/>
                  </a:solidFill>
                </a:rPr>
                <a:t>A</a:t>
              </a:r>
              <a:r>
                <a:rPr lang="en-US" baseline="-25000" dirty="0" err="1">
                  <a:solidFill>
                    <a:srgbClr val="02B944"/>
                  </a:solidFill>
                </a:rPr>
                <a:t>ex</a:t>
              </a:r>
              <a:r>
                <a:rPr lang="en-US" dirty="0">
                  <a:solidFill>
                    <a:srgbClr val="02B944"/>
                  </a:solidFill>
                </a:rPr>
                <a:t>=1.77E-6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149956D-8949-7D17-5416-F5B32B01057B}"/>
              </a:ext>
            </a:extLst>
          </p:cNvPr>
          <p:cNvSpPr txBox="1"/>
          <p:nvPr/>
        </p:nvSpPr>
        <p:spPr>
          <a:xfrm>
            <a:off x="7856384" y="2551837"/>
            <a:ext cx="38948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 err="1"/>
              <a:t>Mumax</a:t>
            </a:r>
            <a:r>
              <a:rPr lang="en-US" u="sng" dirty="0"/>
              <a:t>:</a:t>
            </a:r>
          </a:p>
          <a:p>
            <a:r>
              <a:rPr lang="en-US" dirty="0"/>
              <a:t>   </a:t>
            </a:r>
            <a:r>
              <a:rPr lang="en-US" dirty="0" err="1"/>
              <a:t>Aex</a:t>
            </a:r>
            <a:r>
              <a:rPr lang="en-US" dirty="0"/>
              <a:t> = 1.776e-06 erg/cm</a:t>
            </a:r>
          </a:p>
          <a:p>
            <a:r>
              <a:rPr lang="en-US" dirty="0"/>
              <a:t>   sampling rate = 1 GHz</a:t>
            </a:r>
          </a:p>
          <a:p>
            <a:r>
              <a:rPr lang="en-US" dirty="0"/>
              <a:t>   Ki = 2.48 erg/cm</a:t>
            </a:r>
            <a:r>
              <a:rPr lang="en-US" baseline="30000" dirty="0"/>
              <a:t>2 </a:t>
            </a:r>
            <a:endParaRPr lang="en-US" dirty="0"/>
          </a:p>
          <a:p>
            <a:r>
              <a:rPr lang="en-US" dirty="0"/>
              <a:t>   Ku1 = Ki/</a:t>
            </a:r>
            <a:r>
              <a:rPr lang="en-US" dirty="0" err="1"/>
              <a:t>t_fl</a:t>
            </a:r>
            <a:r>
              <a:rPr lang="en-US" dirty="0"/>
              <a:t> (seems to be too large)</a:t>
            </a:r>
          </a:p>
        </p:txBody>
      </p:sp>
    </p:spTree>
    <p:extLst>
      <p:ext uri="{BB962C8B-B14F-4D97-AF65-F5344CB8AC3E}">
        <p14:creationId xmlns:p14="http://schemas.microsoft.com/office/powerpoint/2010/main" val="3489269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8D8E-300E-5089-4BA0-C4041E69D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Mumax</a:t>
            </a:r>
            <a:r>
              <a:rPr lang="en-US" dirty="0"/>
              <a:t> best fitting attempt (</a:t>
            </a:r>
            <a:r>
              <a:rPr lang="en-US" dirty="0" err="1"/>
              <a:t>scipy</a:t>
            </a:r>
            <a:r>
              <a:rPr lang="en-US" dirty="0"/>
              <a:t>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D49C34-37F3-9BA9-C4A4-CEE2D83E5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4687" y="2002503"/>
            <a:ext cx="5089756" cy="3483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F12FBF-9598-30B0-E3D8-F517A88FDABC}"/>
              </a:ext>
            </a:extLst>
          </p:cNvPr>
          <p:cNvSpPr txBox="1"/>
          <p:nvPr/>
        </p:nvSpPr>
        <p:spPr>
          <a:xfrm>
            <a:off x="2628901" y="2551837"/>
            <a:ext cx="28943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Fitted:</a:t>
            </a:r>
          </a:p>
          <a:p>
            <a:r>
              <a:rPr lang="en-US" dirty="0"/>
              <a:t>   </a:t>
            </a:r>
            <a:r>
              <a:rPr lang="en-US" dirty="0" err="1"/>
              <a:t>Aex</a:t>
            </a:r>
            <a:r>
              <a:rPr lang="en-US" dirty="0"/>
              <a:t> = 1.604e-06 erg/cm</a:t>
            </a:r>
          </a:p>
          <a:p>
            <a:r>
              <a:rPr lang="en-US" dirty="0"/>
              <a:t>   </a:t>
            </a:r>
            <a:r>
              <a:rPr lang="en-US" dirty="0" err="1"/>
              <a:t>w_dw</a:t>
            </a:r>
            <a:r>
              <a:rPr lang="en-US" dirty="0"/>
              <a:t> = 11.340 nm </a:t>
            </a:r>
          </a:p>
          <a:p>
            <a:r>
              <a:rPr lang="en-US" dirty="0"/>
              <a:t>   Delta = 173.071</a:t>
            </a:r>
          </a:p>
          <a:p>
            <a:r>
              <a:rPr lang="en-US" dirty="0"/>
              <a:t>   </a:t>
            </a:r>
            <a:r>
              <a:rPr lang="en-US" dirty="0" err="1"/>
              <a:t>f_att</a:t>
            </a:r>
            <a:r>
              <a:rPr lang="en-US" dirty="0"/>
              <a:t> = 5.079 GHz </a:t>
            </a:r>
          </a:p>
          <a:p>
            <a:r>
              <a:rPr lang="en-US" dirty="0"/>
              <a:t>   </a:t>
            </a:r>
            <a:r>
              <a:rPr lang="en-US" dirty="0" err="1"/>
              <a:t>Hk</a:t>
            </a:r>
            <a:r>
              <a:rPr lang="en-US" dirty="0"/>
              <a:t> = 2817.147 Oe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5F86F4-64E4-A5C7-B30B-6F36F9460042}"/>
              </a:ext>
            </a:extLst>
          </p:cNvPr>
          <p:cNvSpPr txBox="1"/>
          <p:nvPr/>
        </p:nvSpPr>
        <p:spPr>
          <a:xfrm>
            <a:off x="7819513" y="1973024"/>
            <a:ext cx="38948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Mumax</a:t>
            </a:r>
            <a:r>
              <a:rPr lang="en-US" dirty="0"/>
              <a:t>:</a:t>
            </a:r>
          </a:p>
          <a:p>
            <a:r>
              <a:rPr lang="en-US" dirty="0"/>
              <a:t>   </a:t>
            </a:r>
            <a:r>
              <a:rPr lang="en-US" dirty="0" err="1"/>
              <a:t>Aex</a:t>
            </a:r>
            <a:r>
              <a:rPr lang="en-US" dirty="0"/>
              <a:t> = 1.776e-06 erg/cm</a:t>
            </a:r>
          </a:p>
          <a:p>
            <a:r>
              <a:rPr lang="en-US" dirty="0"/>
              <a:t>   </a:t>
            </a:r>
            <a:r>
              <a:rPr lang="en-US" dirty="0" err="1"/>
              <a:t>f_att</a:t>
            </a:r>
            <a:r>
              <a:rPr lang="en-US" dirty="0"/>
              <a:t> = 5.079 GHz </a:t>
            </a:r>
          </a:p>
          <a:p>
            <a:r>
              <a:rPr lang="en-US" dirty="0"/>
              <a:t>   sampling rate = 1 GHz</a:t>
            </a:r>
          </a:p>
          <a:p>
            <a:r>
              <a:rPr lang="en-US" dirty="0"/>
              <a:t>   Ki = 2.48 erg/cm</a:t>
            </a:r>
            <a:r>
              <a:rPr lang="en-US" baseline="30000" dirty="0"/>
              <a:t>2 </a:t>
            </a:r>
            <a:endParaRPr lang="en-US" dirty="0"/>
          </a:p>
          <a:p>
            <a:r>
              <a:rPr lang="en-US" dirty="0"/>
              <a:t>   Ku1 = Ki/</a:t>
            </a:r>
            <a:r>
              <a:rPr lang="en-US" dirty="0" err="1"/>
              <a:t>t_fl</a:t>
            </a:r>
            <a:r>
              <a:rPr lang="en-US" dirty="0"/>
              <a:t> (seems to be too large)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9044B4-7121-DCAC-09DE-570029EFA6CE}"/>
              </a:ext>
            </a:extLst>
          </p:cNvPr>
          <p:cNvSpPr txBox="1"/>
          <p:nvPr/>
        </p:nvSpPr>
        <p:spPr>
          <a:xfrm rot="16200000">
            <a:off x="989193" y="3251214"/>
            <a:ext cx="11102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P(H)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92FB29-BAD3-6CD6-F831-554C5E5B28E2}"/>
              </a:ext>
            </a:extLst>
          </p:cNvPr>
          <p:cNvSpPr txBox="1"/>
          <p:nvPr/>
        </p:nvSpPr>
        <p:spPr>
          <a:xfrm>
            <a:off x="3957484" y="5411756"/>
            <a:ext cx="12929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H (Oe)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A7B665-0D39-897A-7BF7-BBAB5B9B57B1}"/>
              </a:ext>
            </a:extLst>
          </p:cNvPr>
          <p:cNvSpPr txBox="1"/>
          <p:nvPr/>
        </p:nvSpPr>
        <p:spPr>
          <a:xfrm>
            <a:off x="7819513" y="3942168"/>
            <a:ext cx="34113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Fitting variables:</a:t>
            </a:r>
          </a:p>
          <a:p>
            <a:r>
              <a:rPr lang="en-US" dirty="0"/>
              <a:t>   </a:t>
            </a:r>
            <a:r>
              <a:rPr lang="en-US" dirty="0" err="1"/>
              <a:t>Aex</a:t>
            </a:r>
            <a:endParaRPr lang="en-US" dirty="0"/>
          </a:p>
          <a:p>
            <a:r>
              <a:rPr lang="en-US" dirty="0"/>
              <a:t>   delta (</a:t>
            </a:r>
            <a:r>
              <a:rPr lang="en-US" dirty="0" err="1"/>
              <a:t>w_dw</a:t>
            </a:r>
            <a:r>
              <a:rPr lang="en-US" dirty="0"/>
              <a:t> = |diameter*delta|) </a:t>
            </a:r>
          </a:p>
          <a:p>
            <a:r>
              <a:rPr lang="en-US" dirty="0"/>
              <a:t>   </a:t>
            </a:r>
            <a:r>
              <a:rPr lang="en-US" dirty="0" err="1"/>
              <a:t>f_att</a:t>
            </a:r>
            <a:endParaRPr lang="en-US" dirty="0"/>
          </a:p>
          <a:p>
            <a:r>
              <a:rPr lang="en-US" dirty="0"/>
              <a:t>   </a:t>
            </a:r>
            <a:r>
              <a:rPr lang="en-US" dirty="0" err="1"/>
              <a:t>Hk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0FB71D-3E9B-9A28-F4FF-AE23F61DC3D6}"/>
              </a:ext>
            </a:extLst>
          </p:cNvPr>
          <p:cNvGrpSpPr/>
          <p:nvPr/>
        </p:nvGrpSpPr>
        <p:grpSpPr>
          <a:xfrm>
            <a:off x="10428830" y="982765"/>
            <a:ext cx="707923" cy="707923"/>
            <a:chOff x="10428830" y="982765"/>
            <a:chExt cx="707923" cy="707923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A5696D1-A16C-0EC4-8633-8ED0AE5A5990}"/>
                </a:ext>
              </a:extLst>
            </p:cNvPr>
            <p:cNvSpPr/>
            <p:nvPr/>
          </p:nvSpPr>
          <p:spPr>
            <a:xfrm>
              <a:off x="10428830" y="982765"/>
              <a:ext cx="707923" cy="70792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E10B527-8673-21D8-DAEC-8628DC9A198B}"/>
                    </a:ext>
                  </a:extLst>
                </p14:cNvPr>
                <p14:cNvContentPartPr/>
                <p14:nvPr/>
              </p14:nvContentPartPr>
              <p14:xfrm>
                <a:off x="10464633" y="1316427"/>
                <a:ext cx="648360" cy="262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E10B527-8673-21D8-DAEC-8628DC9A198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55633" y="1307427"/>
                  <a:ext cx="6660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F29DE2-819A-9381-C0C1-143A9F1960ED}"/>
                    </a:ext>
                  </a:extLst>
                </p14:cNvPr>
                <p14:cNvContentPartPr/>
                <p14:nvPr/>
              </p14:nvContentPartPr>
              <p14:xfrm>
                <a:off x="10760913" y="994947"/>
                <a:ext cx="226440" cy="372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F29DE2-819A-9381-C0C1-143A9F1960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51913" y="985947"/>
                  <a:ext cx="244080" cy="39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4637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94F7F-9700-5D45-E73B-46C96917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(10/18/2025)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23776-9F8F-2F71-BAB2-553CA9FDD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 propagation for fitting</a:t>
            </a:r>
          </a:p>
          <a:p>
            <a:pPr lvl="1"/>
            <a:r>
              <a:rPr lang="en-US" dirty="0"/>
              <a:t>Look into more advanced fitting packages (</a:t>
            </a:r>
            <a:r>
              <a:rPr lang="en-US" dirty="0" err="1"/>
              <a:t>lmfit</a:t>
            </a:r>
            <a:r>
              <a:rPr lang="en-US" dirty="0"/>
              <a:t>)</a:t>
            </a:r>
          </a:p>
          <a:p>
            <a:r>
              <a:rPr lang="en-US" dirty="0"/>
              <a:t>Domain wall length calculation</a:t>
            </a:r>
          </a:p>
          <a:p>
            <a:r>
              <a:rPr lang="en-US" dirty="0"/>
              <a:t>Physical measurements</a:t>
            </a:r>
          </a:p>
        </p:txBody>
      </p:sp>
    </p:spTree>
    <p:extLst>
      <p:ext uri="{BB962C8B-B14F-4D97-AF65-F5344CB8AC3E}">
        <p14:creationId xmlns:p14="http://schemas.microsoft.com/office/powerpoint/2010/main" val="2341074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B4655-E759-E538-0F3C-B54C809E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40C0-32CF-C8BE-592D-CFBB83C8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/>
              <a:t>Mumax</a:t>
            </a:r>
            <a:r>
              <a:rPr lang="en-US" dirty="0"/>
              <a:t> fitting attempt (</a:t>
            </a:r>
            <a:r>
              <a:rPr lang="en-US" dirty="0" err="1"/>
              <a:t>lmfit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EE6F66-D2A5-6BF2-836C-DF3A8DC8084C}"/>
              </a:ext>
            </a:extLst>
          </p:cNvPr>
          <p:cNvSpPr txBox="1"/>
          <p:nvPr/>
        </p:nvSpPr>
        <p:spPr>
          <a:xfrm>
            <a:off x="128804" y="1140714"/>
            <a:ext cx="34113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Mumax</a:t>
            </a:r>
            <a:r>
              <a:rPr lang="en-US" sz="1400" dirty="0"/>
              <a:t>: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Aex</a:t>
            </a:r>
            <a:r>
              <a:rPr lang="en-US" sz="1400" dirty="0"/>
              <a:t> = 1.776e-06 erg/cm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f_att</a:t>
            </a:r>
            <a:r>
              <a:rPr lang="en-US" sz="1400" dirty="0"/>
              <a:t> = 5.079 GHz </a:t>
            </a:r>
          </a:p>
          <a:p>
            <a:r>
              <a:rPr lang="en-US" sz="1400" dirty="0"/>
              <a:t>   sampling rate = 1 GHz</a:t>
            </a:r>
          </a:p>
          <a:p>
            <a:r>
              <a:rPr lang="en-US" sz="1400" dirty="0"/>
              <a:t>   Ki = 2.48 erg/cm</a:t>
            </a:r>
            <a:r>
              <a:rPr lang="en-US" sz="1400" baseline="30000" dirty="0"/>
              <a:t>2 </a:t>
            </a:r>
            <a:endParaRPr lang="en-US" sz="1400" dirty="0"/>
          </a:p>
          <a:p>
            <a:r>
              <a:rPr lang="en-US" sz="1400" dirty="0"/>
              <a:t>   Ku1 = Ki/</a:t>
            </a:r>
            <a:r>
              <a:rPr lang="en-US" sz="1400" dirty="0" err="1"/>
              <a:t>t_fl</a:t>
            </a:r>
            <a:r>
              <a:rPr lang="en-US" sz="1400" dirty="0"/>
              <a:t> (seems to be too large)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7FA291-0C4B-17CC-7641-DF23EECB9B13}"/>
              </a:ext>
            </a:extLst>
          </p:cNvPr>
          <p:cNvGrpSpPr/>
          <p:nvPr/>
        </p:nvGrpSpPr>
        <p:grpSpPr>
          <a:xfrm>
            <a:off x="128804" y="3020616"/>
            <a:ext cx="5311718" cy="3668792"/>
            <a:chOff x="1359674" y="2011124"/>
            <a:chExt cx="5311718" cy="3668792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BC7B829-E13D-1390-278C-6D604405D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1087" y="2011124"/>
              <a:ext cx="4820305" cy="329946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CDE935-F857-BE4D-6045-4AF08B03F4BC}"/>
                </a:ext>
              </a:extLst>
            </p:cNvPr>
            <p:cNvSpPr txBox="1"/>
            <p:nvPr/>
          </p:nvSpPr>
          <p:spPr>
            <a:xfrm>
              <a:off x="2628901" y="2551837"/>
              <a:ext cx="289437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Fitted:</a:t>
              </a:r>
            </a:p>
            <a:p>
              <a:r>
                <a:rPr lang="en-US" sz="1600" dirty="0"/>
                <a:t>   </a:t>
              </a:r>
              <a:r>
                <a:rPr lang="en-US" sz="1600" dirty="0" err="1"/>
                <a:t>Aex</a:t>
              </a:r>
              <a:r>
                <a:rPr lang="en-US" sz="1600" dirty="0"/>
                <a:t> = 1.604e-06 erg/cm</a:t>
              </a:r>
            </a:p>
            <a:p>
              <a:r>
                <a:rPr lang="en-US" sz="1600" dirty="0"/>
                <a:t>   </a:t>
              </a:r>
              <a:r>
                <a:rPr lang="en-US" sz="1600" dirty="0" err="1"/>
                <a:t>w_dw</a:t>
              </a:r>
              <a:r>
                <a:rPr lang="en-US" sz="1600" dirty="0"/>
                <a:t> = 11.340 nm </a:t>
              </a:r>
            </a:p>
            <a:p>
              <a:r>
                <a:rPr lang="en-US" sz="1600" dirty="0"/>
                <a:t>   Delta = 173.071</a:t>
              </a:r>
            </a:p>
            <a:p>
              <a:r>
                <a:rPr lang="en-US" sz="1600" dirty="0"/>
                <a:t>   </a:t>
              </a:r>
              <a:r>
                <a:rPr lang="en-US" sz="1600" dirty="0" err="1"/>
                <a:t>f_att</a:t>
              </a:r>
              <a:r>
                <a:rPr lang="en-US" sz="1600" dirty="0"/>
                <a:t> = 5.079 GHz </a:t>
              </a:r>
            </a:p>
            <a:p>
              <a:r>
                <a:rPr lang="en-US" sz="1600" dirty="0"/>
                <a:t>   </a:t>
              </a:r>
              <a:r>
                <a:rPr lang="en-US" sz="1600" dirty="0" err="1"/>
                <a:t>Hk</a:t>
              </a:r>
              <a:r>
                <a:rPr lang="en-US" sz="1600" dirty="0"/>
                <a:t> = 2817.147 Oe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4434EC-32CE-AD58-53CF-0D3C10E077AA}"/>
                </a:ext>
              </a:extLst>
            </p:cNvPr>
            <p:cNvSpPr txBox="1"/>
            <p:nvPr/>
          </p:nvSpPr>
          <p:spPr>
            <a:xfrm rot="16200000">
              <a:off x="989194" y="3381685"/>
              <a:ext cx="11102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P(H)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1742B4-E05F-F522-B846-C5A8DE1A470D}"/>
                </a:ext>
              </a:extLst>
            </p:cNvPr>
            <p:cNvSpPr txBox="1"/>
            <p:nvPr/>
          </p:nvSpPr>
          <p:spPr>
            <a:xfrm>
              <a:off x="3797464" y="5310584"/>
              <a:ext cx="12929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H (Oe)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264C3A-89E1-82EF-F123-4CAD3B5E5F75}"/>
              </a:ext>
            </a:extLst>
          </p:cNvPr>
          <p:cNvSpPr txBox="1"/>
          <p:nvPr/>
        </p:nvSpPr>
        <p:spPr>
          <a:xfrm>
            <a:off x="3213065" y="1142838"/>
            <a:ext cx="30892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Fitting variables: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Aex</a:t>
            </a:r>
            <a:endParaRPr lang="en-US" sz="1400" dirty="0"/>
          </a:p>
          <a:p>
            <a:r>
              <a:rPr lang="en-US" sz="1400" dirty="0"/>
              <a:t>   delta (</a:t>
            </a:r>
            <a:r>
              <a:rPr lang="en-US" sz="1400" dirty="0" err="1"/>
              <a:t>w_dw</a:t>
            </a:r>
            <a:r>
              <a:rPr lang="en-US" sz="1400" dirty="0"/>
              <a:t> = |diameter*delta|) 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f_att</a:t>
            </a:r>
            <a:endParaRPr lang="en-US" sz="1400" dirty="0"/>
          </a:p>
          <a:p>
            <a:r>
              <a:rPr lang="en-US" sz="1400" dirty="0"/>
              <a:t>   </a:t>
            </a:r>
            <a:r>
              <a:rPr lang="en-US" sz="1400" dirty="0" err="1"/>
              <a:t>Hk</a:t>
            </a:r>
            <a:endParaRPr lang="en-US" sz="14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36B9A37-7825-2375-FEE3-3927D79E4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4401" y="1085613"/>
            <a:ext cx="5603795" cy="560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64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06750-146C-1DED-FD63-3ECC5ADEC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4A589-FC19-2B5A-3956-3AA365BAD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DW length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64353-3F4C-C29C-0CA7-AD6DB31FE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006" y="319610"/>
            <a:ext cx="1487615" cy="1473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A4C43D-33D9-695F-70D2-26185C991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131" y="342630"/>
            <a:ext cx="1325562" cy="132556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711BE83-5C46-350B-05C9-ABF7990349F5}"/>
              </a:ext>
            </a:extLst>
          </p:cNvPr>
          <p:cNvCxnSpPr/>
          <p:nvPr/>
        </p:nvCxnSpPr>
        <p:spPr>
          <a:xfrm>
            <a:off x="7383213" y="1005411"/>
            <a:ext cx="146606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F9BAC9A9-F3F6-7D28-1174-B8BF2E79E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435" y="2494131"/>
            <a:ext cx="4687093" cy="323409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F965990-41DC-3A77-BA48-E0A21ECCBA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2498" y="2494131"/>
            <a:ext cx="4780834" cy="323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25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6140</TotalTime>
  <Words>567</Words>
  <Application>Microsoft Macintosh PowerPoint</Application>
  <PresentationFormat>Widescreen</PresentationFormat>
  <Paragraphs>108</Paragraphs>
  <Slides>10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DW field-switching micromag and fitting results</vt:lpstr>
      <vt:lpstr>BLS notes: fitting eqn</vt:lpstr>
      <vt:lpstr>Non-device ways to measure Aex</vt:lpstr>
      <vt:lpstr>Output and fitting using equation (2 kHz sampling)</vt:lpstr>
      <vt:lpstr>Output and fitting using equation (1 GHz sampling)</vt:lpstr>
      <vt:lpstr>Mumax output</vt:lpstr>
      <vt:lpstr>Mumax best fitting attempt (scipy)</vt:lpstr>
      <vt:lpstr>Next (10/18/2025)</vt:lpstr>
      <vt:lpstr>Mumax fitting attempt (lmfit)</vt:lpstr>
      <vt:lpstr>DW length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Samuel</dc:creator>
  <cp:lastModifiedBy>Liu, Samuel</cp:lastModifiedBy>
  <cp:revision>33</cp:revision>
  <dcterms:created xsi:type="dcterms:W3CDTF">2025-09-03T16:24:01Z</dcterms:created>
  <dcterms:modified xsi:type="dcterms:W3CDTF">2025-11-22T00:04:43Z</dcterms:modified>
</cp:coreProperties>
</file>